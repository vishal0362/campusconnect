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0" r:id="rId6"/>
    <p:sldId id="266" r:id="rId7"/>
    <p:sldId id="267" r:id="rId8"/>
    <p:sldId id="270" r:id="rId9"/>
    <p:sldId id="271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D23C93B8-E563-29F0-957D-47FA893306E1}"/>
              </a:ext>
            </a:extLst>
          </p:cNvPr>
          <p:cNvSpPr/>
          <p:nvPr/>
        </p:nvSpPr>
        <p:spPr>
          <a:xfrm>
            <a:off x="-19664" y="5692876"/>
            <a:ext cx="12241162" cy="1199531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>
              <a:latin typeface="Bookman Old Style" panose="0205060405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92F0D-E79F-0817-87BE-186E8A0C2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7D9D3-F5EB-A9CE-7667-72480C840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89FE8F89-64AF-E135-FE39-7F964AFAB6A1}"/>
              </a:ext>
            </a:extLst>
          </p:cNvPr>
          <p:cNvSpPr/>
          <p:nvPr/>
        </p:nvSpPr>
        <p:spPr>
          <a:xfrm>
            <a:off x="0" y="1"/>
            <a:ext cx="12192000" cy="668594"/>
          </a:xfrm>
          <a:prstGeom prst="round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43F53E-5D54-6A32-373D-D82B080FC23D}"/>
              </a:ext>
            </a:extLst>
          </p:cNvPr>
          <p:cNvCxnSpPr>
            <a:cxnSpLocks/>
          </p:cNvCxnSpPr>
          <p:nvPr/>
        </p:nvCxnSpPr>
        <p:spPr>
          <a:xfrm>
            <a:off x="-19664" y="727589"/>
            <a:ext cx="122116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483390-0205-6251-2EB8-DF66D98CFF55}"/>
              </a:ext>
            </a:extLst>
          </p:cNvPr>
          <p:cNvSpPr txBox="1">
            <a:spLocks/>
          </p:cNvSpPr>
          <p:nvPr/>
        </p:nvSpPr>
        <p:spPr>
          <a:xfrm>
            <a:off x="127820" y="5735637"/>
            <a:ext cx="3873909" cy="1063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defRPr sz="1200" kern="1200">
                <a:solidFill>
                  <a:schemeClr val="bg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Mission</a:t>
            </a:r>
          </a:p>
          <a:p>
            <a:pPr algn="l"/>
            <a:r>
              <a:rPr lang="en-US" dirty="0"/>
              <a:t>Ensuring innovative academic ambience, to create visionary and patriotic professionals with outstanding academic scholarship upholding noble life principles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CDAA0EE9-BA8B-4A47-6F12-6426F9190C0A}"/>
              </a:ext>
            </a:extLst>
          </p:cNvPr>
          <p:cNvSpPr txBox="1">
            <a:spLocks/>
          </p:cNvSpPr>
          <p:nvPr/>
        </p:nvSpPr>
        <p:spPr>
          <a:xfrm>
            <a:off x="9340642" y="5735646"/>
            <a:ext cx="2627673" cy="1063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defRPr sz="1200" kern="1200">
                <a:solidFill>
                  <a:schemeClr val="bg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Core Values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Faith in God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Universal Integrity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Responsive Ethical </a:t>
            </a:r>
            <a:r>
              <a:rPr lang="en-US" dirty="0" err="1"/>
              <a:t>Behaviour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Social Concern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Integrated Personality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0FE720-D789-B8B8-B5B7-845DE2DA7706}"/>
              </a:ext>
            </a:extLst>
          </p:cNvPr>
          <p:cNvSpPr txBox="1">
            <a:spLocks/>
          </p:cNvSpPr>
          <p:nvPr/>
        </p:nvSpPr>
        <p:spPr>
          <a:xfrm>
            <a:off x="4488426" y="5751871"/>
            <a:ext cx="3873909" cy="1063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defRPr sz="1200" kern="1200">
                <a:solidFill>
                  <a:schemeClr val="bg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Vision</a:t>
            </a:r>
          </a:p>
          <a:p>
            <a:pPr algn="l"/>
            <a:r>
              <a:rPr lang="en-US" dirty="0"/>
              <a:t>Envisages integral growth of an individual with professional excellence, academic brilliance, and moral rectitude by offering excellent academic expertise which would equip them to remain competent in the global village.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355300-D7F5-3709-C514-18C76DF69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42" y="89004"/>
            <a:ext cx="2714985" cy="55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41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600D-A8A9-B11A-1185-1E8779A9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5910"/>
            <a:ext cx="10515600" cy="8647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195CC-5383-01F4-78A0-8F2876C71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759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AD02-09BB-3693-CDE5-905053603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471AB-F244-2090-C690-129FDF842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837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BC94-AD73-1551-2B6E-D66D247E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077"/>
            <a:ext cx="10515600" cy="874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90D66-AAB2-5400-141E-93E60949E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56056-9C75-5F94-70E7-5F04CC0A9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022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44C1-70B4-EF11-3E0D-66DA049B7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4610C-A7D0-0EC6-DFA6-0F95932CF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B07B1-C023-CEAD-C6A3-55CFB9A9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D659C-9E61-05F3-9D01-FAD327AB2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61282-295C-657D-0CD2-EB4B42B8F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86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A1D7-D09E-8E9A-F2C4-C18D0D99C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6916"/>
            <a:ext cx="10515600" cy="9237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21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01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4BEE-9139-B0C2-3007-FE00ACDB1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5238"/>
            <a:ext cx="3932237" cy="119216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F5961-5E46-1E45-0994-EEEDCC999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15DC9-C4E5-9769-6A31-0486F7A03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4939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98AB-7DDF-A5F1-D745-0FF338CB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66916"/>
            <a:ext cx="3932237" cy="12904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E1762-9BCB-8C38-7BFC-12F62FFED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4084C-D419-A715-092A-5FF7B930F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746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1FF4-376D-E88A-9B47-4B05DEC4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742"/>
            <a:ext cx="10515600" cy="854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7D380-15C9-7DCA-9A6C-990C6A069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41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61945-5742-07DD-0669-118F6627F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04567"/>
            <a:ext cx="2628900" cy="52723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52FD7-D199-9076-9FD1-9E07F1B70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04567"/>
            <a:ext cx="7734300" cy="52723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80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15E88-DE72-7A7A-73ED-B3558500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4"/>
            <a:ext cx="10515600" cy="904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CA59F-38AE-E90D-AD6E-DC982AA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00B9E802-8784-5C47-A8CF-97D1D4D6B0F3}"/>
              </a:ext>
            </a:extLst>
          </p:cNvPr>
          <p:cNvSpPr/>
          <p:nvPr/>
        </p:nvSpPr>
        <p:spPr>
          <a:xfrm>
            <a:off x="0" y="1"/>
            <a:ext cx="12192000" cy="668594"/>
          </a:xfrm>
          <a:prstGeom prst="round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BA9342-303D-6249-C891-B75563B19BBE}"/>
              </a:ext>
            </a:extLst>
          </p:cNvPr>
          <p:cNvCxnSpPr>
            <a:cxnSpLocks/>
          </p:cNvCxnSpPr>
          <p:nvPr/>
        </p:nvCxnSpPr>
        <p:spPr>
          <a:xfrm>
            <a:off x="-19664" y="727589"/>
            <a:ext cx="122116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C13475C0-119A-41E9-BDE7-E7EB4A858B7C}"/>
              </a:ext>
            </a:extLst>
          </p:cNvPr>
          <p:cNvSpPr/>
          <p:nvPr/>
        </p:nvSpPr>
        <p:spPr>
          <a:xfrm>
            <a:off x="0" y="6329841"/>
            <a:ext cx="12211664" cy="546099"/>
          </a:xfrm>
          <a:prstGeom prst="round2Same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7D53390-DEC8-0CE6-ECD9-49D9AB148B6D}"/>
              </a:ext>
            </a:extLst>
          </p:cNvPr>
          <p:cNvSpPr txBox="1">
            <a:spLocks/>
          </p:cNvSpPr>
          <p:nvPr/>
        </p:nvSpPr>
        <p:spPr>
          <a:xfrm>
            <a:off x="4149213" y="6311900"/>
            <a:ext cx="3873909" cy="503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defRPr sz="1200" kern="1200">
                <a:solidFill>
                  <a:schemeClr val="bg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/>
              <a:t>EXPERTISE AND EXCELLENCE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A945C-37FF-3042-9460-56BA42B829E5}"/>
              </a:ext>
            </a:extLst>
          </p:cNvPr>
          <p:cNvSpPr txBox="1">
            <a:spLocks/>
          </p:cNvSpPr>
          <p:nvPr/>
        </p:nvSpPr>
        <p:spPr>
          <a:xfrm>
            <a:off x="9606116" y="6388835"/>
            <a:ext cx="1747684" cy="377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defRPr sz="1200" kern="1200">
                <a:solidFill>
                  <a:schemeClr val="bg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5E298A1-4288-4CCD-8077-DBEB6E31CDC3}" type="slidenum">
              <a:rPr lang="en-US" sz="1600" b="1" smtClean="0"/>
              <a:pPr algn="r"/>
              <a:t>‹#›</a:t>
            </a:fld>
            <a:endParaRPr lang="en-US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919C1E-2361-4E63-B363-903DD238AF1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42" y="89004"/>
            <a:ext cx="2714985" cy="55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6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50000"/>
            </a:schemeClr>
          </a:solidFill>
          <a:latin typeface="Agency FB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Bookman Old Style" panose="0205060405050502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F0C1-363A-AB56-9A9D-63ECA5FAE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7114"/>
            <a:ext cx="10515600" cy="9237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Automated Question Paper Generation System Using Randomization.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5C380-A902-8547-FCBC-ED888352C877}"/>
              </a:ext>
            </a:extLst>
          </p:cNvPr>
          <p:cNvSpPr txBox="1"/>
          <p:nvPr/>
        </p:nvSpPr>
        <p:spPr>
          <a:xfrm>
            <a:off x="10048568" y="5309419"/>
            <a:ext cx="1170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ALBY JOSE</a:t>
            </a:r>
            <a:br>
              <a:rPr lang="en-IN" dirty="0"/>
            </a:br>
            <a:r>
              <a:rPr lang="en-IN" dirty="0" err="1"/>
              <a:t>IIIrd</a:t>
            </a:r>
            <a:r>
              <a:rPr lang="en-IN" dirty="0"/>
              <a:t> BCA</a:t>
            </a:r>
          </a:p>
        </p:txBody>
      </p:sp>
    </p:spTree>
    <p:extLst>
      <p:ext uri="{BB962C8B-B14F-4D97-AF65-F5344CB8AC3E}">
        <p14:creationId xmlns:p14="http://schemas.microsoft.com/office/powerpoint/2010/main" val="332582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08FF31-351C-C2CF-D17B-1039BDBF6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E036975-FDF0-51A2-839F-3A80224040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905" y="2074323"/>
            <a:ext cx="9770960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simplify and automate the manual process of creating examination papers.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Core Function: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Automatically selects questions randomly from a stored question bank based on specific criteria.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Technology: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Developed as a web-based application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Ruby on Rails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PostgreSQL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Reduces manual work, ensures fairness, and prevents question repetition.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525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C544C3-767E-8C11-ADD1-0C098557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System (The Problem)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13E036-BA3F-E29B-FA44-ACC9669952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05088"/>
            <a:ext cx="75977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Manual Preparation: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Teachers manually select questions from textbooks and notes.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Time Consuming: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Requires significant time and effort to prepare each paper.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Human Error: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High possibility of repeating questions or making mistakes.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Security Risk: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Manual handling increases the risk of paper leakage.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11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51EE9A-8628-3933-929E-91413FD6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 (The Solution)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D03F6FF-BBAB-6373-4B52-FAFA31E537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84728"/>
            <a:ext cx="7843684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Automation: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Automatically generates papers using a stored question bank.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Randomization: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Shuffle Algorithm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unbiased question selection.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Categorization: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Questions are organized by subject, unit, and difficulty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Efficiency: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Saves time for teachers and ensures better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41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E188-E576-7174-68B3-3A3A6231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194FF7A-B5E3-AC1A-553E-9E3831F2D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80388"/>
            <a:ext cx="6781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Three-Tier Architecture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(Client, Application, and Database layers).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 End: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JavaScript, and Tailwind.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 End: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Ruby on Rails (MVC Framework).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PostgreSQL for secure data storage.</a:t>
            </a:r>
          </a:p>
        </p:txBody>
      </p:sp>
    </p:spTree>
    <p:extLst>
      <p:ext uri="{BB962C8B-B14F-4D97-AF65-F5344CB8AC3E}">
        <p14:creationId xmlns:p14="http://schemas.microsoft.com/office/powerpoint/2010/main" val="920024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43EC-81AC-836C-9F8F-EC65235E2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Flow Diagram (Context &amp; Level 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EA958F-EF78-7ABE-9578-B49468732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922455" y="2261522"/>
            <a:ext cx="3835865" cy="31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2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6DBF-2095-6F30-F5C3-D9AC66C3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9" y="845574"/>
            <a:ext cx="10515600" cy="864778"/>
          </a:xfrm>
        </p:spPr>
        <p:txBody>
          <a:bodyPr/>
          <a:lstStyle/>
          <a:p>
            <a:r>
              <a:rPr lang="en-US" dirty="0"/>
              <a:t>Data Flow Diagram (Level 1 - Randomization)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1DD7C5-756C-E676-C328-A32B34C97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618269" y="1568040"/>
            <a:ext cx="4020165" cy="463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71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135F-021C-86A6-A491-8507CB55D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Table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3DB191-6F10-C293-A4EE-CFD61A64AC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1672"/>
            <a:ext cx="728324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tbl_users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Admin and Teacher login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tbl_subjects: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subject names and unique codes.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tbl_questions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the actual question bank with difficulty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tbl_exam_papers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metadata of every generated paper.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tbl_paper_questions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Maps specific questions to specific papers.</a:t>
            </a:r>
          </a:p>
        </p:txBody>
      </p:sp>
    </p:spTree>
    <p:extLst>
      <p:ext uri="{BB962C8B-B14F-4D97-AF65-F5344CB8AC3E}">
        <p14:creationId xmlns:p14="http://schemas.microsoft.com/office/powerpoint/2010/main" val="2469146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D4A1-AAD7-4372-3557-4B82AE82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Progress (50% Completion)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B171CD-8601-0539-D56D-144F0943AF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05670"/>
            <a:ext cx="1066554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 Schema, System Design (DFDs), and Abstract.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Designs: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Login screens, Subject Management, and Question Entry forms are ready.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Phase: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of the Shuffle Algorithm and PDF export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69941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3B5AC-686C-3DC5-72CF-CF1F34470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955" y="2871019"/>
            <a:ext cx="2662084" cy="923772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2289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60CD1B-75D4-417D-A395-D1E9DF3C2AE3}" vid="{A60580B0-A45A-4B2C-8475-A66CB90B876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CCSM TEMPLATE 23-24.potx</Template>
  <TotalTime>33</TotalTime>
  <Words>365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Agency FB</vt:lpstr>
      <vt:lpstr>Arial</vt:lpstr>
      <vt:lpstr>Bookman Old Style</vt:lpstr>
      <vt:lpstr>Calibri</vt:lpstr>
      <vt:lpstr>Google Sans Text</vt:lpstr>
      <vt:lpstr>Office Theme</vt:lpstr>
      <vt:lpstr>Automated Question Paper Generation System Using Randomization.</vt:lpstr>
      <vt:lpstr>Abstract</vt:lpstr>
      <vt:lpstr>Existing System (The Problem)</vt:lpstr>
      <vt:lpstr>Proposed System (The Solution)</vt:lpstr>
      <vt:lpstr>System Architecture</vt:lpstr>
      <vt:lpstr>Data Flow Diagram (Context &amp; Level 0)</vt:lpstr>
      <vt:lpstr>Data Flow Diagram (Level 1 - Randomization)</vt:lpstr>
      <vt:lpstr>Database Table Design</vt:lpstr>
      <vt:lpstr>Current Progress (50% Completion)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Amulya Kurian</dc:creator>
  <cp:lastModifiedBy>Alby Jose</cp:lastModifiedBy>
  <cp:revision>12</cp:revision>
  <dcterms:created xsi:type="dcterms:W3CDTF">2024-05-31T20:34:32Z</dcterms:created>
  <dcterms:modified xsi:type="dcterms:W3CDTF">2026-04-07T02:34:42Z</dcterms:modified>
</cp:coreProperties>
</file>