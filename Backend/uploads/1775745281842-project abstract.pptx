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72" r:id="rId6"/>
    <p:sldId id="260" r:id="rId7"/>
    <p:sldId id="266" r:id="rId8"/>
    <p:sldId id="267" r:id="rId9"/>
    <p:sldId id="270" r:id="rId10"/>
    <p:sldId id="27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6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D23C93B8-E563-29F0-957D-47FA893306E1}"/>
              </a:ext>
            </a:extLst>
          </p:cNvPr>
          <p:cNvSpPr/>
          <p:nvPr/>
        </p:nvSpPr>
        <p:spPr>
          <a:xfrm>
            <a:off x="-19664" y="5692876"/>
            <a:ext cx="12241162" cy="1199531"/>
          </a:xfrm>
          <a:prstGeom prst="round2Same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>
              <a:latin typeface="Bookman Old Style" panose="020506040505050202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92F0D-E79F-0817-87BE-186E8A0C2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7D9D3-F5EB-A9CE-7667-72480C840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89FE8F89-64AF-E135-FE39-7F964AFAB6A1}"/>
              </a:ext>
            </a:extLst>
          </p:cNvPr>
          <p:cNvSpPr/>
          <p:nvPr/>
        </p:nvSpPr>
        <p:spPr>
          <a:xfrm>
            <a:off x="0" y="1"/>
            <a:ext cx="12192000" cy="668594"/>
          </a:xfrm>
          <a:prstGeom prst="round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43F53E-5D54-6A32-373D-D82B080FC23D}"/>
              </a:ext>
            </a:extLst>
          </p:cNvPr>
          <p:cNvCxnSpPr>
            <a:cxnSpLocks/>
          </p:cNvCxnSpPr>
          <p:nvPr/>
        </p:nvCxnSpPr>
        <p:spPr>
          <a:xfrm>
            <a:off x="-19664" y="727589"/>
            <a:ext cx="122116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483390-0205-6251-2EB8-DF66D98CFF55}"/>
              </a:ext>
            </a:extLst>
          </p:cNvPr>
          <p:cNvSpPr txBox="1">
            <a:spLocks/>
          </p:cNvSpPr>
          <p:nvPr/>
        </p:nvSpPr>
        <p:spPr>
          <a:xfrm>
            <a:off x="127820" y="5735637"/>
            <a:ext cx="3873909" cy="1063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Mission</a:t>
            </a:r>
          </a:p>
          <a:p>
            <a:pPr algn="l"/>
            <a:r>
              <a:rPr lang="en-US" dirty="0"/>
              <a:t>Ensuring innovative academic ambience, to create visionary and patriotic professionals with outstanding academic scholarship upholding noble life principles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DAA0EE9-BA8B-4A47-6F12-6426F9190C0A}"/>
              </a:ext>
            </a:extLst>
          </p:cNvPr>
          <p:cNvSpPr txBox="1">
            <a:spLocks/>
          </p:cNvSpPr>
          <p:nvPr/>
        </p:nvSpPr>
        <p:spPr>
          <a:xfrm>
            <a:off x="9340642" y="5735646"/>
            <a:ext cx="2627673" cy="1063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Core Values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Faith in God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Universal Integrity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Responsive Ethical </a:t>
            </a:r>
            <a:r>
              <a:rPr lang="en-US" dirty="0" err="1"/>
              <a:t>Behaviour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Social Concern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dirty="0"/>
              <a:t>Integrated Personality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90FE720-D789-B8B8-B5B7-845DE2DA7706}"/>
              </a:ext>
            </a:extLst>
          </p:cNvPr>
          <p:cNvSpPr txBox="1">
            <a:spLocks/>
          </p:cNvSpPr>
          <p:nvPr/>
        </p:nvSpPr>
        <p:spPr>
          <a:xfrm>
            <a:off x="4488426" y="5751871"/>
            <a:ext cx="3873909" cy="1063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Vision</a:t>
            </a:r>
          </a:p>
          <a:p>
            <a:pPr algn="l"/>
            <a:r>
              <a:rPr lang="en-US" dirty="0"/>
              <a:t>Envisages integral growth of an individual with professional excellence, academic brilliance, and moral rectitude by offering excellent academic expertise which would equip them to remain competent in the global village.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355300-D7F5-3709-C514-18C76DF69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2" y="89004"/>
            <a:ext cx="2714985" cy="55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41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1600D-A8A9-B11A-1185-1E8779A97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5910"/>
            <a:ext cx="10515600" cy="86477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95CC-5383-01F4-78A0-8F2876C71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3759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AD02-09BB-3693-CDE5-90505360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471AB-F244-2090-C690-129FDF842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837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BBC94-AD73-1551-2B6E-D66D247E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6077"/>
            <a:ext cx="10515600" cy="8746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90D66-AAB2-5400-141E-93E60949E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56056-9C75-5F94-70E7-5F04CC0A9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02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44C1-70B4-EF11-3E0D-66DA049B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4610C-A7D0-0EC6-DFA6-0F95932C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B07B1-C023-CEAD-C6A3-55CFB9A94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BD659C-9E61-05F3-9D01-FAD327AB2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61282-295C-657D-0CD2-EB4B42B8F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86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1D7-D09E-8E9A-F2C4-C18D0D99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6916"/>
            <a:ext cx="10515600" cy="9237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213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701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4BEE-9139-B0C2-3007-FE00ACDB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5238"/>
            <a:ext cx="3932237" cy="119216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F5961-5E46-1E45-0994-EEEDCC999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15DC9-C4E5-9769-6A31-0486F7A03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4939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298AB-7DDF-A5F1-D745-0FF338CB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66916"/>
            <a:ext cx="3932237" cy="12904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E1762-9BCB-8C38-7BFC-12F62FFED9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4084C-D419-A715-092A-5FF7B930F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7469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81FF4-376D-E88A-9B47-4B05DEC4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5742"/>
            <a:ext cx="10515600" cy="8549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7D380-15C9-7DCA-9A6C-990C6A069E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41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361945-5742-07DD-0669-118F6627FE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04567"/>
            <a:ext cx="2628900" cy="52723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D52FD7-D199-9076-9FD1-9E07F1B706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04567"/>
            <a:ext cx="7734300" cy="52723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80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15E88-DE72-7A7A-73ED-B3558500C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84"/>
            <a:ext cx="10515600" cy="9041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CA59F-38AE-E90D-AD6E-DC982AA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00B9E802-8784-5C47-A8CF-97D1D4D6B0F3}"/>
              </a:ext>
            </a:extLst>
          </p:cNvPr>
          <p:cNvSpPr/>
          <p:nvPr/>
        </p:nvSpPr>
        <p:spPr>
          <a:xfrm>
            <a:off x="0" y="1"/>
            <a:ext cx="12192000" cy="668594"/>
          </a:xfrm>
          <a:prstGeom prst="round2Diag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4BA9342-303D-6249-C891-B75563B19BBE}"/>
              </a:ext>
            </a:extLst>
          </p:cNvPr>
          <p:cNvCxnSpPr>
            <a:cxnSpLocks/>
          </p:cNvCxnSpPr>
          <p:nvPr/>
        </p:nvCxnSpPr>
        <p:spPr>
          <a:xfrm>
            <a:off x="-19664" y="727589"/>
            <a:ext cx="12211664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C13475C0-119A-41E9-BDE7-E7EB4A858B7C}"/>
              </a:ext>
            </a:extLst>
          </p:cNvPr>
          <p:cNvSpPr/>
          <p:nvPr/>
        </p:nvSpPr>
        <p:spPr>
          <a:xfrm>
            <a:off x="0" y="6329841"/>
            <a:ext cx="12211664" cy="546099"/>
          </a:xfrm>
          <a:prstGeom prst="round2Same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IN" dirty="0">
              <a:latin typeface="Bookman Old Style" panose="02050604050505020204" pitchFamily="18" charset="0"/>
            </a:endParaRP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7D53390-DEC8-0CE6-ECD9-49D9AB148B6D}"/>
              </a:ext>
            </a:extLst>
          </p:cNvPr>
          <p:cNvSpPr txBox="1">
            <a:spLocks/>
          </p:cNvSpPr>
          <p:nvPr/>
        </p:nvSpPr>
        <p:spPr>
          <a:xfrm>
            <a:off x="4149213" y="6311900"/>
            <a:ext cx="3873909" cy="503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/>
              <a:t>EXPERTISE AND EXCELLENCE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A945C-37FF-3042-9460-56BA42B829E5}"/>
              </a:ext>
            </a:extLst>
          </p:cNvPr>
          <p:cNvSpPr txBox="1">
            <a:spLocks/>
          </p:cNvSpPr>
          <p:nvPr/>
        </p:nvSpPr>
        <p:spPr>
          <a:xfrm>
            <a:off x="9606116" y="6388835"/>
            <a:ext cx="1747684" cy="377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defRPr sz="1200" kern="1200">
                <a:solidFill>
                  <a:schemeClr val="bg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5E298A1-4288-4CCD-8077-DBEB6E31CDC3}" type="slidenum">
              <a:rPr lang="en-US" sz="1600" b="1" smtClean="0"/>
              <a:pPr algn="r"/>
              <a:t>‹#›</a:t>
            </a:fld>
            <a:endParaRPr lang="en-US" sz="16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19C1E-2361-4E63-B363-903DD238AF1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42" y="89004"/>
            <a:ext cx="2714985" cy="55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6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>
              <a:lumMod val="50000"/>
            </a:schemeClr>
          </a:solidFill>
          <a:latin typeface="Agency FB" panose="020B0503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Bookman Old Style" panose="02050604050505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7F0C1-363A-AB56-9A9D-63ECA5FAE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14"/>
            <a:ext cx="10515600" cy="923772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CampusConnect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5C380-A902-8547-FCBC-ED888352C877}"/>
              </a:ext>
            </a:extLst>
          </p:cNvPr>
          <p:cNvSpPr txBox="1"/>
          <p:nvPr/>
        </p:nvSpPr>
        <p:spPr>
          <a:xfrm>
            <a:off x="9563936" y="5108251"/>
            <a:ext cx="1693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Bishal Misra</a:t>
            </a:r>
            <a:br>
              <a:rPr lang="en-IN" sz="2400" dirty="0"/>
            </a:br>
            <a:r>
              <a:rPr lang="en-IN" sz="2400" dirty="0"/>
              <a:t>3</a:t>
            </a:r>
            <a:r>
              <a:rPr lang="en-IN" sz="2400" baseline="30000" dirty="0"/>
              <a:t>rd </a:t>
            </a:r>
            <a:r>
              <a:rPr lang="en-IN" sz="2400" dirty="0"/>
              <a:t> BCA</a:t>
            </a:r>
          </a:p>
        </p:txBody>
      </p:sp>
    </p:spTree>
    <p:extLst>
      <p:ext uri="{BB962C8B-B14F-4D97-AF65-F5344CB8AC3E}">
        <p14:creationId xmlns:p14="http://schemas.microsoft.com/office/powerpoint/2010/main" val="3325826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08FF31-351C-C2CF-D17B-1039BDBF6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036975-FDF0-51A2-839F-3A80224040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5634"/>
            <a:ext cx="9770960" cy="34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Purpose:</a:t>
            </a:r>
            <a:br>
              <a:rPr lang="en-US" sz="1800" dirty="0"/>
            </a:br>
            <a:r>
              <a:rPr lang="en-US" sz="1800" dirty="0"/>
              <a:t>To create a centralized platform for students to connect, share resources, and communicate globally with students.</a:t>
            </a:r>
          </a:p>
          <a:p>
            <a:r>
              <a:rPr lang="en-US" sz="1800" b="1" dirty="0"/>
              <a:t>Core Function:</a:t>
            </a:r>
            <a:br>
              <a:rPr lang="en-US" sz="1800" dirty="0"/>
            </a:br>
            <a:r>
              <a:rPr lang="en-US" sz="1800" dirty="0"/>
              <a:t>Allows students to share notes, buy/sell books, chat, and interact through a single platform.</a:t>
            </a:r>
          </a:p>
          <a:p>
            <a:r>
              <a:rPr lang="en-US" sz="1800" b="1" dirty="0"/>
              <a:t>Technology:</a:t>
            </a:r>
            <a:br>
              <a:rPr lang="en-US" sz="1800" dirty="0"/>
            </a:br>
            <a:r>
              <a:rPr lang="en-US" sz="1800" dirty="0"/>
              <a:t>Developed as a web application using HTML, CSS, JavaScript, and backend integration.</a:t>
            </a:r>
          </a:p>
          <a:p>
            <a:r>
              <a:rPr lang="en-US" sz="1800" b="1" dirty="0"/>
              <a:t>Impact:</a:t>
            </a:r>
            <a:br>
              <a:rPr lang="en-US" sz="1800" dirty="0"/>
            </a:br>
            <a:r>
              <a:rPr lang="en-US" sz="1800" dirty="0"/>
              <a:t>Improves student collaboration, reduces dependency on external apps, and enhances campus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666525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C544C3-767E-8C11-ADD1-0C098557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Existing System (The Problem)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6DCB46-F157-D679-FD35-082909E18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single platform for all student activities.</a:t>
            </a:r>
          </a:p>
          <a:p>
            <a:r>
              <a:rPr lang="en-US" dirty="0"/>
              <a:t>Students depend on multiple apps (WhatsApp, Telegram,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  <a:p>
            <a:r>
              <a:rPr lang="en-US" dirty="0"/>
              <a:t>Difficulty in sharing notes and study materials.</a:t>
            </a:r>
          </a:p>
          <a:p>
            <a:r>
              <a:rPr lang="en-US" dirty="0"/>
              <a:t>No proper system for buying/selling used books.</a:t>
            </a:r>
          </a:p>
          <a:p>
            <a:r>
              <a:rPr lang="en-US" dirty="0"/>
              <a:t>Lack of centralized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1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251EE9A-8628-3933-929E-91413FD6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 (The Solution)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18BFA9-BB15-775C-019B-5F0632899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All-in-one student platform </a:t>
            </a:r>
          </a:p>
          <a:p>
            <a:r>
              <a:rPr lang="en-US" dirty="0"/>
              <a:t>Notes sharing system </a:t>
            </a:r>
          </a:p>
          <a:p>
            <a:r>
              <a:rPr lang="en-US" dirty="0"/>
              <a:t>Marketplace for buying/selling books </a:t>
            </a:r>
          </a:p>
          <a:p>
            <a:r>
              <a:rPr lang="en-US" dirty="0"/>
              <a:t>Real-time chat system </a:t>
            </a:r>
          </a:p>
          <a:p>
            <a:r>
              <a:rPr lang="en-US" dirty="0"/>
              <a:t>Student profile and dashboard </a:t>
            </a:r>
          </a:p>
          <a:p>
            <a:r>
              <a:rPr lang="en-US" b="1" dirty="0"/>
              <a:t>Key Feature:</a:t>
            </a:r>
            <a:br>
              <a:rPr lang="en-US" dirty="0"/>
            </a:br>
            <a:r>
              <a:rPr lang="en-US" dirty="0"/>
              <a:t>User-friendly interface with secure login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41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2D51-557A-6CB7-BE82-BDD93CCE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 of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68BAC-12F2-DB7E-D4E4-0787B4497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(Login/Register)</a:t>
            </a:r>
          </a:p>
          <a:p>
            <a:r>
              <a:rPr lang="en-US" dirty="0"/>
              <a:t>Dashboard</a:t>
            </a:r>
          </a:p>
          <a:p>
            <a:r>
              <a:rPr lang="en-US" dirty="0"/>
              <a:t>Notes Sharing</a:t>
            </a:r>
          </a:p>
          <a:p>
            <a:r>
              <a:rPr lang="en-US" dirty="0"/>
              <a:t>Marketplace</a:t>
            </a:r>
          </a:p>
          <a:p>
            <a:r>
              <a:rPr lang="en-US" dirty="0"/>
              <a:t>Chat System</a:t>
            </a:r>
          </a:p>
          <a:p>
            <a:r>
              <a:rPr lang="en-US" dirty="0"/>
              <a:t>Profile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823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E188-E576-7174-68B3-3A3A62319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4E2A4-4D32-85DC-3029-297EEF3F0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Architecture Type:</a:t>
            </a:r>
            <a:r>
              <a:rPr lang="en-IN" dirty="0"/>
              <a:t> Three-Tier Architecture</a:t>
            </a:r>
          </a:p>
          <a:p>
            <a:r>
              <a:rPr lang="en-IN" b="1" dirty="0"/>
              <a:t>Frontend:</a:t>
            </a:r>
            <a:r>
              <a:rPr lang="en-IN" dirty="0"/>
              <a:t> HTML, CSS, JavaScript, Tailwind </a:t>
            </a:r>
          </a:p>
          <a:p>
            <a:r>
              <a:rPr lang="en-IN" b="1" dirty="0"/>
              <a:t>Backend:</a:t>
            </a:r>
            <a:r>
              <a:rPr lang="en-IN" dirty="0"/>
              <a:t> (</a:t>
            </a:r>
            <a:r>
              <a:rPr lang="en-US" dirty="0"/>
              <a:t>Node.js/Express.js/Multer</a:t>
            </a:r>
            <a:r>
              <a:rPr lang="en-IN" dirty="0"/>
              <a:t>) </a:t>
            </a:r>
          </a:p>
          <a:p>
            <a:r>
              <a:rPr lang="en-IN" b="1" dirty="0"/>
              <a:t>Database:</a:t>
            </a:r>
            <a:r>
              <a:rPr lang="en-IN" dirty="0"/>
              <a:t>  MongoDB/MongoDB Altas</a:t>
            </a:r>
          </a:p>
          <a:p>
            <a:r>
              <a:rPr lang="en-IN" b="1" dirty="0"/>
              <a:t>Layers:</a:t>
            </a:r>
            <a:endParaRPr lang="en-IN" dirty="0"/>
          </a:p>
          <a:p>
            <a:r>
              <a:rPr lang="en-IN" dirty="0"/>
              <a:t>Client Layer (User Interface) </a:t>
            </a:r>
          </a:p>
          <a:p>
            <a:r>
              <a:rPr lang="en-IN" dirty="0"/>
              <a:t>Application Layer (Logic) </a:t>
            </a:r>
          </a:p>
          <a:p>
            <a:r>
              <a:rPr lang="en-IN" dirty="0"/>
              <a:t>Database Layer (Storage)</a:t>
            </a:r>
          </a:p>
        </p:txBody>
      </p:sp>
    </p:spTree>
    <p:extLst>
      <p:ext uri="{BB962C8B-B14F-4D97-AF65-F5344CB8AC3E}">
        <p14:creationId xmlns:p14="http://schemas.microsoft.com/office/powerpoint/2010/main" val="92002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43EC-81AC-836C-9F8F-EC65235E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Diagram (Context &amp; Level 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40ADB-37C0-04F6-0BBB-4DECDF75DF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52" y="1596008"/>
            <a:ext cx="10894124" cy="465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2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AD30702-394C-1121-94A8-375878712D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74" y="1581912"/>
            <a:ext cx="10141522" cy="46360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6D6DBF-2095-6F30-F5C3-D9AC66C3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9" y="845574"/>
            <a:ext cx="10515600" cy="864778"/>
          </a:xfrm>
        </p:spPr>
        <p:txBody>
          <a:bodyPr/>
          <a:lstStyle/>
          <a:p>
            <a:r>
              <a:rPr lang="en-US" dirty="0"/>
              <a:t>Data Flow Diagram (Level 1 - Randomization)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718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135F-021C-86A6-A491-8507CB55D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Table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2FEC6-4F2D-8032-AA9D-786D2F060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tbl_login</a:t>
            </a:r>
            <a:r>
              <a:rPr lang="en-IN" dirty="0"/>
              <a:t> → Stores user credentials</a:t>
            </a:r>
          </a:p>
          <a:p>
            <a:r>
              <a:rPr lang="en-IN" dirty="0" err="1"/>
              <a:t>tbl_students</a:t>
            </a:r>
            <a:r>
              <a:rPr lang="en-IN" dirty="0"/>
              <a:t> → Stores student details</a:t>
            </a:r>
          </a:p>
          <a:p>
            <a:r>
              <a:rPr lang="en-IN" dirty="0" err="1"/>
              <a:t>tbl_notes</a:t>
            </a:r>
            <a:r>
              <a:rPr lang="en-IN" dirty="0"/>
              <a:t> → Stores uploaded notes</a:t>
            </a:r>
          </a:p>
          <a:p>
            <a:r>
              <a:rPr lang="en-IN" dirty="0" err="1"/>
              <a:t>tbl_marketplace</a:t>
            </a:r>
            <a:r>
              <a:rPr lang="en-IN" dirty="0"/>
              <a:t> → Book listings</a:t>
            </a:r>
          </a:p>
          <a:p>
            <a:r>
              <a:rPr lang="en-IN" dirty="0" err="1"/>
              <a:t>tbl_chat</a:t>
            </a:r>
            <a:r>
              <a:rPr lang="en-IN" dirty="0"/>
              <a:t> → Messages between users</a:t>
            </a:r>
          </a:p>
          <a:p>
            <a:r>
              <a:rPr lang="en-IN" dirty="0"/>
              <a:t>tbl_complaints → Student complaints</a:t>
            </a:r>
          </a:p>
        </p:txBody>
      </p:sp>
    </p:spTree>
    <p:extLst>
      <p:ext uri="{BB962C8B-B14F-4D97-AF65-F5344CB8AC3E}">
        <p14:creationId xmlns:p14="http://schemas.microsoft.com/office/powerpoint/2010/main" val="2469146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D4A1-AAD7-4372-3557-4B82AE822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Current Progress (50% Completion)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F1E94-ED38-7661-4CEA-E41D9AF45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Completed:</a:t>
            </a:r>
            <a:endParaRPr lang="en-US" dirty="0"/>
          </a:p>
          <a:p>
            <a:r>
              <a:rPr lang="en-US" dirty="0"/>
              <a:t>UI Design (Login, Dashboard, Profile) </a:t>
            </a:r>
          </a:p>
          <a:p>
            <a:r>
              <a:rPr lang="en-US" dirty="0"/>
              <a:t>Database Structure </a:t>
            </a:r>
          </a:p>
          <a:p>
            <a:r>
              <a:rPr lang="en-US" dirty="0"/>
              <a:t>Basic Modules Working </a:t>
            </a:r>
          </a:p>
          <a:p>
            <a:r>
              <a:rPr lang="en-US" b="1" dirty="0"/>
              <a:t>In Progress:</a:t>
            </a:r>
            <a:endParaRPr lang="en-US" dirty="0"/>
          </a:p>
          <a:p>
            <a:r>
              <a:rPr lang="en-US" dirty="0"/>
              <a:t>Chat system integration </a:t>
            </a:r>
          </a:p>
          <a:p>
            <a:r>
              <a:rPr lang="en-US" dirty="0"/>
              <a:t>Marketplace payment system </a:t>
            </a:r>
          </a:p>
          <a:p>
            <a:r>
              <a:rPr lang="en-US" dirty="0"/>
              <a:t>Students complaint</a:t>
            </a:r>
          </a:p>
          <a:p>
            <a:r>
              <a:rPr lang="en-US" dirty="0"/>
              <a:t>Testing and debugging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9410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3B5AC-686C-3DC5-72CF-CF1F34470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955" y="2871019"/>
            <a:ext cx="2662084" cy="923772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22896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C60CD1B-75D4-417D-A395-D1E9DF3C2AE3}" vid="{A60580B0-A45A-4B2C-8475-A66CB90B87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CCSM TEMPLATE 23-24.potx</Template>
  <TotalTime>660</TotalTime>
  <Words>345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Agency FB</vt:lpstr>
      <vt:lpstr>Arial</vt:lpstr>
      <vt:lpstr>Bookman Old Style</vt:lpstr>
      <vt:lpstr>Calibri</vt:lpstr>
      <vt:lpstr>Office Theme</vt:lpstr>
      <vt:lpstr>CampusConnect</vt:lpstr>
      <vt:lpstr>Abstract</vt:lpstr>
      <vt:lpstr>Existing System (The Problem)</vt:lpstr>
      <vt:lpstr>Proposed System (The Solution)</vt:lpstr>
      <vt:lpstr>Modules of the System</vt:lpstr>
      <vt:lpstr>System Architecture</vt:lpstr>
      <vt:lpstr>Data Flow Diagram (Context &amp; Level 0)</vt:lpstr>
      <vt:lpstr>Data Flow Diagram (Level 1 - Randomization)</vt:lpstr>
      <vt:lpstr>Database Table Design</vt:lpstr>
      <vt:lpstr>Current Progress (50% Completion)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Amulya Kurian</dc:creator>
  <cp:lastModifiedBy>Vishal Misra</cp:lastModifiedBy>
  <cp:revision>16</cp:revision>
  <dcterms:created xsi:type="dcterms:W3CDTF">2024-05-31T20:34:32Z</dcterms:created>
  <dcterms:modified xsi:type="dcterms:W3CDTF">2026-04-08T14:12:31Z</dcterms:modified>
</cp:coreProperties>
</file>